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7" r:id="rId10"/>
    <p:sldId id="264" r:id="rId11"/>
    <p:sldId id="265" r:id="rId12"/>
    <p:sldId id="266"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9/6/2026</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9/6/2026</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9/6/2026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9/6/2026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9/6/2026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9/6/2026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9/6/2026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9/6/2026</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twitter-disaster.streamlit.app/" TargetMode="External"/><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D17F9-B896-CAB2-F89B-53837F52D89D}"/>
              </a:ext>
            </a:extLst>
          </p:cNvPr>
          <p:cNvSpPr>
            <a:spLocks noGrp="1"/>
          </p:cNvSpPr>
          <p:nvPr>
            <p:ph type="ctrTitle"/>
          </p:nvPr>
        </p:nvSpPr>
        <p:spPr>
          <a:xfrm>
            <a:off x="1915383" y="2189110"/>
            <a:ext cx="8361229" cy="1086237"/>
          </a:xfrm>
        </p:spPr>
        <p:txBody>
          <a:bodyPr/>
          <a:lstStyle/>
          <a:p>
            <a:r>
              <a:rPr lang="en-IN" sz="5400" dirty="0">
                <a:latin typeface="Arial" panose="020B0604020202020204" pitchFamily="34" charset="0"/>
                <a:cs typeface="Arial" panose="020B0604020202020204" pitchFamily="34" charset="0"/>
              </a:rPr>
              <a:t>Twitter Disaster</a:t>
            </a:r>
          </a:p>
        </p:txBody>
      </p:sp>
      <p:sp>
        <p:nvSpPr>
          <p:cNvPr id="3" name="Subtitle 2">
            <a:extLst>
              <a:ext uri="{FF2B5EF4-FFF2-40B4-BE49-F238E27FC236}">
                <a16:creationId xmlns:a16="http://schemas.microsoft.com/office/drawing/2014/main" id="{11C6F6BD-4A8E-C6A0-2200-6C4E0EC808CB}"/>
              </a:ext>
            </a:extLst>
          </p:cNvPr>
          <p:cNvSpPr>
            <a:spLocks noGrp="1"/>
          </p:cNvSpPr>
          <p:nvPr>
            <p:ph type="subTitle" idx="1"/>
          </p:nvPr>
        </p:nvSpPr>
        <p:spPr>
          <a:xfrm>
            <a:off x="2680162" y="3582653"/>
            <a:ext cx="6831673" cy="1086237"/>
          </a:xfrm>
        </p:spPr>
        <p:txBody>
          <a:bodyPr>
            <a:normAutofit lnSpcReduction="10000"/>
          </a:bodyPr>
          <a:lstStyle/>
          <a:p>
            <a:r>
              <a:rPr lang="en-IN" sz="3200" dirty="0">
                <a:latin typeface="Arial" panose="020B0604020202020204" pitchFamily="34" charset="0"/>
                <a:cs typeface="Arial" panose="020B0604020202020204" pitchFamily="34" charset="0"/>
              </a:rPr>
              <a:t>Next Hikes IT Solutions</a:t>
            </a:r>
          </a:p>
          <a:p>
            <a:r>
              <a:rPr lang="en-IN" sz="3200" dirty="0">
                <a:latin typeface="Arial" panose="020B0604020202020204" pitchFamily="34" charset="0"/>
                <a:cs typeface="Arial" panose="020B0604020202020204" pitchFamily="34" charset="0"/>
              </a:rPr>
              <a:t>Vincy Mehta</a:t>
            </a:r>
          </a:p>
        </p:txBody>
      </p:sp>
    </p:spTree>
    <p:extLst>
      <p:ext uri="{BB962C8B-B14F-4D97-AF65-F5344CB8AC3E}">
        <p14:creationId xmlns:p14="http://schemas.microsoft.com/office/powerpoint/2010/main" val="2059558809"/>
      </p:ext>
    </p:extLst>
  </p:cSld>
  <p:clrMapOvr>
    <a:masterClrMapping/>
  </p:clrMapOvr>
  <mc:AlternateContent xmlns:mc="http://schemas.openxmlformats.org/markup-compatibility/2006">
    <mc:Choice xmlns:p14="http://schemas.microsoft.com/office/powerpoint/2010/main" Requires="p14">
      <p:transition spd="slow" p14:dur="1250">
        <p14:flip dir="r"/>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9FAAA7F-EAB0-2D0D-1F70-D45423A7D2E9}"/>
              </a:ext>
            </a:extLst>
          </p:cNvPr>
          <p:cNvPicPr>
            <a:picLocks noChangeAspect="1"/>
          </p:cNvPicPr>
          <p:nvPr/>
        </p:nvPicPr>
        <p:blipFill>
          <a:blip r:embed="rId2"/>
          <a:stretch>
            <a:fillRect/>
          </a:stretch>
        </p:blipFill>
        <p:spPr>
          <a:xfrm>
            <a:off x="1055972" y="950495"/>
            <a:ext cx="5040028" cy="4957010"/>
          </a:xfrm>
          <a:prstGeom prst="rect">
            <a:avLst/>
          </a:prstGeom>
        </p:spPr>
      </p:pic>
      <p:sp>
        <p:nvSpPr>
          <p:cNvPr id="9" name="TextBox 8">
            <a:extLst>
              <a:ext uri="{FF2B5EF4-FFF2-40B4-BE49-F238E27FC236}">
                <a16:creationId xmlns:a16="http://schemas.microsoft.com/office/drawing/2014/main" id="{1E380EEE-A9A8-0058-61C6-DE1EFB0C466D}"/>
              </a:ext>
            </a:extLst>
          </p:cNvPr>
          <p:cNvSpPr txBox="1"/>
          <p:nvPr/>
        </p:nvSpPr>
        <p:spPr>
          <a:xfrm>
            <a:off x="6725265" y="1319448"/>
            <a:ext cx="5181599" cy="4219104"/>
          </a:xfrm>
          <a:prstGeom prst="rect">
            <a:avLst/>
          </a:prstGeom>
          <a:noFill/>
        </p:spPr>
        <p:txBody>
          <a:bodyPr wrap="square">
            <a:spAutoFit/>
          </a:bodyPr>
          <a:lstStyle/>
          <a:p>
            <a:pPr marL="285750" marR="0" indent="-285750" algn="l">
              <a:spcBef>
                <a:spcPts val="1306"/>
              </a:spcBef>
              <a:spcAft>
                <a:spcPts val="1742"/>
              </a:spcAft>
              <a:buFont typeface="Wingdings" panose="05000000000000000000" pitchFamily="2" charset="2"/>
              <a:buChar char="q"/>
            </a:pPr>
            <a:r>
              <a:rPr lang="en-IN" sz="2000" b="1" i="1" dirty="0">
                <a:solidFill>
                  <a:schemeClr val="tx1"/>
                </a:solidFill>
                <a:effectLst/>
                <a:latin typeface="Arial" panose="020B0604020202020204" pitchFamily="34" charset="0"/>
                <a:cs typeface="Arial" panose="020B0604020202020204" pitchFamily="34" charset="0"/>
              </a:rPr>
              <a:t>Insights :</a:t>
            </a:r>
          </a:p>
          <a:p>
            <a:pPr marL="285750" marR="0" indent="-285750" algn="l">
              <a:buFont typeface="Wingdings" panose="05000000000000000000" pitchFamily="2" charset="2"/>
              <a:buChar char="§"/>
            </a:pPr>
            <a:r>
              <a:rPr lang="en-IN" b="0" i="0" dirty="0">
                <a:solidFill>
                  <a:schemeClr val="tx1"/>
                </a:solidFill>
                <a:effectLst/>
                <a:latin typeface="Arial" panose="020B0604020202020204" pitchFamily="34" charset="0"/>
                <a:cs typeface="Arial" panose="020B0604020202020204" pitchFamily="34" charset="0"/>
              </a:rPr>
              <a:t>Dataset has 7,613 tweets total — 4,342 are non-disaster tweets and 3,271 are disaster related tweets.</a:t>
            </a:r>
          </a:p>
          <a:p>
            <a:pPr marL="285750" marR="0" indent="-285750" algn="l">
              <a:buFont typeface="Wingdings" panose="05000000000000000000" pitchFamily="2" charset="2"/>
              <a:buChar char="§"/>
            </a:pPr>
            <a:endParaRPr lang="en-IN" b="0" i="0" dirty="0">
              <a:solidFill>
                <a:schemeClr val="tx1"/>
              </a:solidFill>
              <a:effectLst/>
              <a:latin typeface="Arial" panose="020B0604020202020204" pitchFamily="34" charset="0"/>
              <a:cs typeface="Arial" panose="020B0604020202020204" pitchFamily="34" charset="0"/>
            </a:endParaRPr>
          </a:p>
          <a:p>
            <a:pPr marL="285750" marR="0" indent="-285750" algn="l">
              <a:buFont typeface="Wingdings" panose="05000000000000000000" pitchFamily="2" charset="2"/>
              <a:buChar char="§"/>
            </a:pPr>
            <a:r>
              <a:rPr lang="en-IN" b="0" i="0" dirty="0">
                <a:solidFill>
                  <a:schemeClr val="tx1"/>
                </a:solidFill>
                <a:effectLst/>
                <a:latin typeface="Arial" panose="020B0604020202020204" pitchFamily="34" charset="0"/>
                <a:cs typeface="Arial" panose="020B0604020202020204" pitchFamily="34" charset="0"/>
              </a:rPr>
              <a:t>No major bias risk — since the gap between classes isn't extreme.</a:t>
            </a:r>
          </a:p>
          <a:p>
            <a:pPr marL="285750" marR="0" indent="-285750" algn="l">
              <a:buFont typeface="Wingdings" panose="05000000000000000000" pitchFamily="2" charset="2"/>
              <a:buChar char="§"/>
            </a:pPr>
            <a:endParaRPr lang="en-IN" b="0" i="0" dirty="0">
              <a:solidFill>
                <a:schemeClr val="tx1"/>
              </a:solidFill>
              <a:effectLst/>
              <a:latin typeface="Arial" panose="020B0604020202020204" pitchFamily="34" charset="0"/>
              <a:cs typeface="Arial" panose="020B0604020202020204" pitchFamily="34" charset="0"/>
            </a:endParaRPr>
          </a:p>
          <a:p>
            <a:pPr marL="285750" marR="0" indent="-285750" algn="l">
              <a:buFont typeface="Wingdings" panose="05000000000000000000" pitchFamily="2" charset="2"/>
              <a:buChar char="§"/>
            </a:pPr>
            <a:r>
              <a:rPr lang="en-IN" b="0" i="0" dirty="0">
                <a:solidFill>
                  <a:schemeClr val="tx1"/>
                </a:solidFill>
                <a:effectLst/>
                <a:latin typeface="Arial" panose="020B0604020202020204" pitchFamily="34" charset="0"/>
                <a:cs typeface="Arial" panose="020B0604020202020204" pitchFamily="34" charset="0"/>
              </a:rPr>
              <a:t>The data is fairly balanced, with about 57% non-disaster and 43% disaster tweets. This is good news because it means a machine learning model can learn both classes well without needing heavy correction for imbalance.</a:t>
            </a:r>
            <a:endParaRPr lang="en-IN" b="0" i="0" dirty="0">
              <a:solidFill>
                <a:srgbClr val="FFFFFF"/>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61741632"/>
      </p:ext>
    </p:extLst>
  </p:cSld>
  <p:clrMapOvr>
    <a:masterClrMapping/>
  </p:clrMapOvr>
  <mc:AlternateContent xmlns:mc="http://schemas.openxmlformats.org/markup-compatibility/2006">
    <mc:Choice xmlns:p14="http://schemas.microsoft.com/office/powerpoint/2010/main" Requires="p14">
      <p:transition spd="slow" p14:dur="1250">
        <p14:flip dir="r"/>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81ECA86-3B46-3BA4-7110-F189FA0E8E4C}"/>
              </a:ext>
            </a:extLst>
          </p:cNvPr>
          <p:cNvPicPr>
            <a:picLocks noChangeAspect="1"/>
          </p:cNvPicPr>
          <p:nvPr/>
        </p:nvPicPr>
        <p:blipFill>
          <a:blip r:embed="rId2"/>
          <a:stretch>
            <a:fillRect/>
          </a:stretch>
        </p:blipFill>
        <p:spPr>
          <a:xfrm>
            <a:off x="816077" y="770336"/>
            <a:ext cx="5447071" cy="5453483"/>
          </a:xfrm>
          <a:prstGeom prst="rect">
            <a:avLst/>
          </a:prstGeom>
        </p:spPr>
      </p:pic>
      <p:sp>
        <p:nvSpPr>
          <p:cNvPr id="5" name="TextBox 4">
            <a:extLst>
              <a:ext uri="{FF2B5EF4-FFF2-40B4-BE49-F238E27FC236}">
                <a16:creationId xmlns:a16="http://schemas.microsoft.com/office/drawing/2014/main" id="{7E91AC15-861C-25BD-9E7F-27A10000EAF7}"/>
              </a:ext>
            </a:extLst>
          </p:cNvPr>
          <p:cNvSpPr txBox="1"/>
          <p:nvPr/>
        </p:nvSpPr>
        <p:spPr>
          <a:xfrm>
            <a:off x="6400800" y="770336"/>
            <a:ext cx="5643716" cy="5327099"/>
          </a:xfrm>
          <a:prstGeom prst="rect">
            <a:avLst/>
          </a:prstGeom>
          <a:noFill/>
        </p:spPr>
        <p:txBody>
          <a:bodyPr wrap="square">
            <a:spAutoFit/>
          </a:bodyPr>
          <a:lstStyle/>
          <a:p>
            <a:pPr marL="342900" marR="0" indent="-342900" algn="l">
              <a:spcBef>
                <a:spcPts val="1306"/>
              </a:spcBef>
              <a:spcAft>
                <a:spcPts val="1742"/>
              </a:spcAft>
              <a:buFont typeface="Wingdings" panose="05000000000000000000" pitchFamily="2" charset="2"/>
              <a:buChar char="q"/>
            </a:pPr>
            <a:r>
              <a:rPr lang="en-IN" sz="2000" b="1" i="1" dirty="0">
                <a:solidFill>
                  <a:schemeClr val="tx1"/>
                </a:solidFill>
                <a:effectLst/>
                <a:latin typeface="Arial" panose="020B0604020202020204" pitchFamily="34" charset="0"/>
                <a:cs typeface="Arial" panose="020B0604020202020204" pitchFamily="34" charset="0"/>
              </a:rPr>
              <a:t>Insights :</a:t>
            </a:r>
          </a:p>
          <a:p>
            <a:pPr marL="285750" marR="0" indent="-285750" algn="l">
              <a:buFont typeface="Wingdings" panose="05000000000000000000" pitchFamily="2" charset="2"/>
              <a:buChar char="§"/>
            </a:pPr>
            <a:r>
              <a:rPr lang="en-IN" b="0" i="0" dirty="0">
                <a:solidFill>
                  <a:schemeClr val="tx1"/>
                </a:solidFill>
                <a:effectLst/>
                <a:latin typeface="Arial" panose="020B0604020202020204" pitchFamily="34" charset="0"/>
                <a:cs typeface="Arial" panose="020B0604020202020204" pitchFamily="34" charset="0"/>
              </a:rPr>
              <a:t>"Fire" is the most dominant disaster keyword, appearing far more often than any other word — suggesting fire-related incidents (wildfires, building fires) are a major topic in disaster tweets.</a:t>
            </a:r>
          </a:p>
          <a:p>
            <a:pPr marL="285750" marR="0" indent="-285750" algn="l">
              <a:buFont typeface="Wingdings" panose="05000000000000000000" pitchFamily="2" charset="2"/>
              <a:buChar char="§"/>
            </a:pPr>
            <a:endParaRPr lang="en-IN" b="0" i="0" dirty="0">
              <a:solidFill>
                <a:schemeClr val="tx1"/>
              </a:solidFill>
              <a:effectLst/>
              <a:latin typeface="Arial" panose="020B0604020202020204" pitchFamily="34" charset="0"/>
              <a:cs typeface="Arial" panose="020B0604020202020204" pitchFamily="34" charset="0"/>
            </a:endParaRPr>
          </a:p>
          <a:p>
            <a:pPr marL="285750" marR="0" indent="-285750" algn="l">
              <a:buFont typeface="Wingdings" panose="05000000000000000000" pitchFamily="2" charset="2"/>
              <a:buChar char="§"/>
            </a:pPr>
            <a:r>
              <a:rPr lang="en-IN" b="0" i="0" dirty="0">
                <a:solidFill>
                  <a:schemeClr val="tx1"/>
                </a:solidFill>
                <a:effectLst/>
                <a:latin typeface="Arial" panose="020B0604020202020204" pitchFamily="34" charset="0"/>
                <a:cs typeface="Arial" panose="020B0604020202020204" pitchFamily="34" charset="0"/>
              </a:rPr>
              <a:t>Words like "news", "via", "police" suggest these tweets often come from or reference official/news sources, meaning disaster tweets may be more informational or shared from credible channels rather than purely personal experiences.</a:t>
            </a:r>
          </a:p>
          <a:p>
            <a:pPr marL="285750" marR="0" indent="-285750" algn="l">
              <a:buFont typeface="Wingdings" panose="05000000000000000000" pitchFamily="2" charset="2"/>
              <a:buChar char="§"/>
            </a:pPr>
            <a:endParaRPr lang="en-IN" b="0" i="0" dirty="0">
              <a:solidFill>
                <a:schemeClr val="tx1"/>
              </a:solidFill>
              <a:effectLst/>
              <a:latin typeface="Arial" panose="020B0604020202020204" pitchFamily="34" charset="0"/>
              <a:cs typeface="Arial" panose="020B0604020202020204" pitchFamily="34" charset="0"/>
            </a:endParaRPr>
          </a:p>
          <a:p>
            <a:pPr marL="285750" marR="0" indent="-285750" algn="l">
              <a:buFont typeface="Wingdings" panose="05000000000000000000" pitchFamily="2" charset="2"/>
              <a:buChar char="§"/>
            </a:pPr>
            <a:r>
              <a:rPr lang="en-IN" b="0" i="0" dirty="0">
                <a:solidFill>
                  <a:schemeClr val="tx1"/>
                </a:solidFill>
                <a:effectLst/>
                <a:latin typeface="Arial" panose="020B0604020202020204" pitchFamily="34" charset="0"/>
                <a:cs typeface="Arial" panose="020B0604020202020204" pitchFamily="34" charset="0"/>
              </a:rPr>
              <a:t>Clear vocabulary separation supports model reliability — the two word clouds are quite distinct (formal/urgent vs. casual/personal), which is a good sign that the model can learn meaningful patterns to distinguish disaster vs non-disaster tweets.</a:t>
            </a:r>
            <a:endParaRPr lang="en-IN" b="0" i="0" dirty="0">
              <a:solidFill>
                <a:srgbClr val="FFFFFF"/>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78220224"/>
      </p:ext>
    </p:extLst>
  </p:cSld>
  <p:clrMapOvr>
    <a:masterClrMapping/>
  </p:clrMapOvr>
  <mc:AlternateContent xmlns:mc="http://schemas.openxmlformats.org/markup-compatibility/2006">
    <mc:Choice xmlns:p14="http://schemas.microsoft.com/office/powerpoint/2010/main" Requires="p14">
      <p:transition spd="slow" p14:dur="1250">
        <p14:flip dir="r"/>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A8BE621-E270-E8EB-AD44-49ABE908AADF}"/>
              </a:ext>
            </a:extLst>
          </p:cNvPr>
          <p:cNvPicPr>
            <a:picLocks noChangeAspect="1"/>
          </p:cNvPicPr>
          <p:nvPr/>
        </p:nvPicPr>
        <p:blipFill>
          <a:blip r:embed="rId2"/>
          <a:stretch>
            <a:fillRect/>
          </a:stretch>
        </p:blipFill>
        <p:spPr>
          <a:xfrm>
            <a:off x="1513650" y="351358"/>
            <a:ext cx="9705473" cy="4013285"/>
          </a:xfrm>
          <a:prstGeom prst="rect">
            <a:avLst/>
          </a:prstGeom>
        </p:spPr>
      </p:pic>
      <p:sp>
        <p:nvSpPr>
          <p:cNvPr id="5" name="TextBox 4">
            <a:extLst>
              <a:ext uri="{FF2B5EF4-FFF2-40B4-BE49-F238E27FC236}">
                <a16:creationId xmlns:a16="http://schemas.microsoft.com/office/drawing/2014/main" id="{CBA07948-98D9-3F19-D36B-3597462CDB0F}"/>
              </a:ext>
            </a:extLst>
          </p:cNvPr>
          <p:cNvSpPr txBox="1"/>
          <p:nvPr/>
        </p:nvSpPr>
        <p:spPr>
          <a:xfrm>
            <a:off x="1976801" y="4686812"/>
            <a:ext cx="9242322" cy="1726114"/>
          </a:xfrm>
          <a:prstGeom prst="rect">
            <a:avLst/>
          </a:prstGeom>
          <a:noFill/>
        </p:spPr>
        <p:txBody>
          <a:bodyPr wrap="square">
            <a:spAutoFit/>
          </a:bodyPr>
          <a:lstStyle/>
          <a:p>
            <a:pPr marL="285750" marR="0" indent="-285750" algn="l">
              <a:spcBef>
                <a:spcPts val="1306"/>
              </a:spcBef>
              <a:spcAft>
                <a:spcPts val="1742"/>
              </a:spcAft>
              <a:buFont typeface="Wingdings" panose="05000000000000000000" pitchFamily="2" charset="2"/>
              <a:buChar char="q"/>
            </a:pPr>
            <a:r>
              <a:rPr lang="en-IN" sz="2000" b="1" i="1" dirty="0">
                <a:solidFill>
                  <a:schemeClr val="tx1"/>
                </a:solidFill>
                <a:effectLst/>
                <a:latin typeface="Arial" panose="020B0604020202020204" pitchFamily="34" charset="0"/>
                <a:cs typeface="Arial" panose="020B0604020202020204" pitchFamily="34" charset="0"/>
              </a:rPr>
              <a:t>Insights :</a:t>
            </a:r>
          </a:p>
          <a:p>
            <a:pPr marL="285750" marR="0" indent="-285750" algn="l">
              <a:buFont typeface="Wingdings" panose="05000000000000000000" pitchFamily="2" charset="2"/>
              <a:buChar char="§"/>
            </a:pPr>
            <a:r>
              <a:rPr lang="en-IN" sz="1800" b="0" i="0" dirty="0">
                <a:solidFill>
                  <a:schemeClr val="tx1"/>
                </a:solidFill>
                <a:effectLst/>
                <a:latin typeface="Arial" panose="020B0604020202020204" pitchFamily="34" charset="0"/>
                <a:cs typeface="Arial" panose="020B0604020202020204" pitchFamily="34" charset="0"/>
              </a:rPr>
              <a:t>"None" is the most frequent keyword (60+ times).</a:t>
            </a:r>
          </a:p>
          <a:p>
            <a:pPr marL="285750" marR="0" indent="-285750" algn="l">
              <a:buFont typeface="Wingdings" panose="05000000000000000000" pitchFamily="2" charset="2"/>
              <a:buChar char="§"/>
            </a:pPr>
            <a:endParaRPr lang="en-IN" sz="1800" b="0" i="0" dirty="0">
              <a:solidFill>
                <a:schemeClr val="tx1"/>
              </a:solidFill>
              <a:effectLst/>
              <a:latin typeface="Arial" panose="020B0604020202020204" pitchFamily="34" charset="0"/>
              <a:cs typeface="Arial" panose="020B0604020202020204" pitchFamily="34" charset="0"/>
            </a:endParaRPr>
          </a:p>
          <a:p>
            <a:pPr marL="285750" marR="0" indent="-285750" algn="l">
              <a:buFont typeface="Wingdings" panose="05000000000000000000" pitchFamily="2" charset="2"/>
              <a:buChar char="§"/>
            </a:pPr>
            <a:r>
              <a:rPr lang="en-IN" sz="1800" b="0" i="0" dirty="0">
                <a:solidFill>
                  <a:schemeClr val="tx1"/>
                </a:solidFill>
                <a:effectLst/>
                <a:latin typeface="Arial" panose="020B0604020202020204" pitchFamily="34" charset="0"/>
                <a:cs typeface="Arial" panose="020B0604020202020204" pitchFamily="34" charset="0"/>
              </a:rPr>
              <a:t>most other keywords (fatalities, </a:t>
            </a:r>
            <a:r>
              <a:rPr lang="en-IN" sz="1800" b="0" i="0" dirty="0" err="1">
                <a:solidFill>
                  <a:schemeClr val="tx1"/>
                </a:solidFill>
                <a:effectLst/>
                <a:latin typeface="Arial" panose="020B0604020202020204" pitchFamily="34" charset="0"/>
                <a:cs typeface="Arial" panose="020B0604020202020204" pitchFamily="34" charset="0"/>
              </a:rPr>
              <a:t>armageddon</a:t>
            </a:r>
            <a:r>
              <a:rPr lang="en-IN" sz="1800" b="0" i="0" dirty="0">
                <a:solidFill>
                  <a:schemeClr val="tx1"/>
                </a:solidFill>
                <a:effectLst/>
                <a:latin typeface="Arial" panose="020B0604020202020204" pitchFamily="34" charset="0"/>
                <a:cs typeface="Arial" panose="020B0604020202020204" pitchFamily="34" charset="0"/>
              </a:rPr>
              <a:t>, deluge, harm, damage, etc.) appear a similar number of times (around 40).</a:t>
            </a:r>
            <a:endParaRPr lang="en-IN" sz="1050" b="0" i="0" dirty="0">
              <a:solidFill>
                <a:srgbClr val="FFFFFF"/>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83914716"/>
      </p:ext>
    </p:extLst>
  </p:cSld>
  <p:clrMapOvr>
    <a:masterClrMapping/>
  </p:clrMapOvr>
  <mc:AlternateContent xmlns:mc="http://schemas.openxmlformats.org/markup-compatibility/2006">
    <mc:Choice xmlns:p14="http://schemas.microsoft.com/office/powerpoint/2010/main" Requires="p14">
      <p:transition spd="slow" p14:dur="1250">
        <p14:flip dir="r"/>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7F2D2F9-4BDD-BAF2-2F70-3931FB8E62F2}"/>
              </a:ext>
            </a:extLst>
          </p:cNvPr>
          <p:cNvPicPr>
            <a:picLocks noChangeAspect="1"/>
          </p:cNvPicPr>
          <p:nvPr/>
        </p:nvPicPr>
        <p:blipFill>
          <a:blip r:embed="rId2"/>
          <a:stretch>
            <a:fillRect/>
          </a:stretch>
        </p:blipFill>
        <p:spPr>
          <a:xfrm>
            <a:off x="903124" y="850081"/>
            <a:ext cx="5693804" cy="5315153"/>
          </a:xfrm>
          <a:prstGeom prst="rect">
            <a:avLst/>
          </a:prstGeom>
        </p:spPr>
      </p:pic>
      <p:sp>
        <p:nvSpPr>
          <p:cNvPr id="5" name="TextBox 4">
            <a:extLst>
              <a:ext uri="{FF2B5EF4-FFF2-40B4-BE49-F238E27FC236}">
                <a16:creationId xmlns:a16="http://schemas.microsoft.com/office/drawing/2014/main" id="{263F5975-7978-7292-6C03-6F42BDA12F1A}"/>
              </a:ext>
            </a:extLst>
          </p:cNvPr>
          <p:cNvSpPr txBox="1"/>
          <p:nvPr/>
        </p:nvSpPr>
        <p:spPr>
          <a:xfrm>
            <a:off x="6754243" y="838135"/>
            <a:ext cx="5201782" cy="5327099"/>
          </a:xfrm>
          <a:prstGeom prst="rect">
            <a:avLst/>
          </a:prstGeom>
          <a:noFill/>
        </p:spPr>
        <p:txBody>
          <a:bodyPr wrap="square">
            <a:spAutoFit/>
          </a:bodyPr>
          <a:lstStyle/>
          <a:p>
            <a:pPr marL="342900" marR="0" indent="-342900" algn="l">
              <a:spcBef>
                <a:spcPts val="1306"/>
              </a:spcBef>
              <a:spcAft>
                <a:spcPts val="1742"/>
              </a:spcAft>
              <a:buFont typeface="Wingdings" panose="05000000000000000000" pitchFamily="2" charset="2"/>
              <a:buChar char="q"/>
            </a:pPr>
            <a:r>
              <a:rPr lang="en-IN" sz="2000" b="1" i="1" dirty="0">
                <a:solidFill>
                  <a:schemeClr val="tx1"/>
                </a:solidFill>
                <a:effectLst/>
                <a:latin typeface="Arial" panose="020B0604020202020204" pitchFamily="34" charset="0"/>
                <a:cs typeface="Arial" panose="020B0604020202020204" pitchFamily="34" charset="0"/>
              </a:rPr>
              <a:t>Insights :</a:t>
            </a:r>
          </a:p>
          <a:p>
            <a:pPr marL="285750" marR="0" indent="-285750" algn="l">
              <a:buFont typeface="Wingdings" panose="05000000000000000000" pitchFamily="2" charset="2"/>
              <a:buChar char="§"/>
            </a:pPr>
            <a:r>
              <a:rPr lang="en-IN" sz="1800" b="0" i="0" dirty="0">
                <a:solidFill>
                  <a:schemeClr val="tx1"/>
                </a:solidFill>
                <a:effectLst/>
                <a:latin typeface="Arial" panose="020B0604020202020204" pitchFamily="34" charset="0"/>
                <a:cs typeface="Arial" panose="020B0604020202020204" pitchFamily="34" charset="0"/>
              </a:rPr>
              <a:t>USA dominates the location data — with 100+ mentions, most tweets in the dataset come from or reference the United States, showing a strong geographic bias toward American users/events.</a:t>
            </a:r>
          </a:p>
          <a:p>
            <a:pPr marL="285750" marR="0" indent="-285750" algn="l">
              <a:buFont typeface="Wingdings" panose="05000000000000000000" pitchFamily="2" charset="2"/>
              <a:buChar char="§"/>
            </a:pPr>
            <a:endParaRPr lang="en-IN" sz="1800" b="0" i="0" dirty="0">
              <a:solidFill>
                <a:schemeClr val="tx1"/>
              </a:solidFill>
              <a:effectLst/>
              <a:latin typeface="Arial" panose="020B0604020202020204" pitchFamily="34" charset="0"/>
              <a:cs typeface="Arial" panose="020B0604020202020204" pitchFamily="34" charset="0"/>
            </a:endParaRPr>
          </a:p>
          <a:p>
            <a:pPr marL="285750" marR="0" indent="-285750" algn="l">
              <a:buFont typeface="Wingdings" panose="05000000000000000000" pitchFamily="2" charset="2"/>
              <a:buChar char="§"/>
            </a:pPr>
            <a:r>
              <a:rPr lang="en-IN" sz="1800" b="0" i="0" dirty="0">
                <a:solidFill>
                  <a:schemeClr val="tx1"/>
                </a:solidFill>
                <a:effectLst/>
                <a:latin typeface="Arial" panose="020B0604020202020204" pitchFamily="34" charset="0"/>
                <a:cs typeface="Arial" panose="020B0604020202020204" pitchFamily="34" charset="0"/>
              </a:rPr>
              <a:t>Limited global representation — countries like Nigeria, India, Mumbai, and Kenya appear, but with much lower counts. This means the model may perform poorly on tweets from underrepresented regions with different disaster patterns, languages, or slang.</a:t>
            </a:r>
          </a:p>
          <a:p>
            <a:pPr marL="285750" marR="0" indent="-285750" algn="l">
              <a:buFont typeface="Wingdings" panose="05000000000000000000" pitchFamily="2" charset="2"/>
              <a:buChar char="§"/>
            </a:pPr>
            <a:endParaRPr lang="en-IN" sz="1800" b="0" i="0" dirty="0">
              <a:solidFill>
                <a:schemeClr val="tx1"/>
              </a:solidFill>
              <a:effectLst/>
              <a:latin typeface="Arial" panose="020B0604020202020204" pitchFamily="34" charset="0"/>
              <a:cs typeface="Arial" panose="020B0604020202020204" pitchFamily="34" charset="0"/>
            </a:endParaRPr>
          </a:p>
          <a:p>
            <a:pPr marL="285750" marR="0" indent="-285750" algn="l">
              <a:buFont typeface="Wingdings" panose="05000000000000000000" pitchFamily="2" charset="2"/>
              <a:buChar char="§"/>
            </a:pPr>
            <a:r>
              <a:rPr lang="en-IN" sz="1800" b="0" i="0" dirty="0">
                <a:solidFill>
                  <a:schemeClr val="tx1"/>
                </a:solidFill>
                <a:effectLst/>
                <a:latin typeface="Arial" panose="020B0604020202020204" pitchFamily="34" charset="0"/>
                <a:cs typeface="Arial" panose="020B0604020202020204" pitchFamily="34" charset="0"/>
              </a:rPr>
              <a:t>"Worldwide" is a generic entry — this shows some users don't share specific locations, so location data will always have some noise or unusable values.</a:t>
            </a:r>
            <a:endParaRPr lang="en-IN" sz="1050" b="0" i="0" dirty="0">
              <a:solidFill>
                <a:srgbClr val="FFFFFF"/>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90065587"/>
      </p:ext>
    </p:extLst>
  </p:cSld>
  <p:clrMapOvr>
    <a:masterClrMapping/>
  </p:clrMapOvr>
  <mc:AlternateContent xmlns:mc="http://schemas.openxmlformats.org/markup-compatibility/2006">
    <mc:Choice xmlns:p14="http://schemas.microsoft.com/office/powerpoint/2010/main" Requires="p14">
      <p:transition spd="slow" p14:dur="1250">
        <p14:flip dir="r"/>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8FD257B-46B7-B52F-4C7F-BC54D68AC1DA}"/>
              </a:ext>
            </a:extLst>
          </p:cNvPr>
          <p:cNvPicPr>
            <a:picLocks noChangeAspect="1"/>
          </p:cNvPicPr>
          <p:nvPr/>
        </p:nvPicPr>
        <p:blipFill>
          <a:blip r:embed="rId2"/>
          <a:stretch>
            <a:fillRect/>
          </a:stretch>
        </p:blipFill>
        <p:spPr>
          <a:xfrm>
            <a:off x="1128747" y="731084"/>
            <a:ext cx="5435062" cy="5680065"/>
          </a:xfrm>
          <a:prstGeom prst="rect">
            <a:avLst/>
          </a:prstGeom>
        </p:spPr>
      </p:pic>
      <p:sp>
        <p:nvSpPr>
          <p:cNvPr id="5" name="TextBox 4">
            <a:extLst>
              <a:ext uri="{FF2B5EF4-FFF2-40B4-BE49-F238E27FC236}">
                <a16:creationId xmlns:a16="http://schemas.microsoft.com/office/drawing/2014/main" id="{2A07E5C7-7A4B-2353-41DC-023A86EC9A9F}"/>
              </a:ext>
            </a:extLst>
          </p:cNvPr>
          <p:cNvSpPr txBox="1"/>
          <p:nvPr/>
        </p:nvSpPr>
        <p:spPr>
          <a:xfrm>
            <a:off x="6858776" y="731084"/>
            <a:ext cx="5057921" cy="5604098"/>
          </a:xfrm>
          <a:prstGeom prst="rect">
            <a:avLst/>
          </a:prstGeom>
          <a:noFill/>
        </p:spPr>
        <p:txBody>
          <a:bodyPr wrap="square">
            <a:spAutoFit/>
          </a:bodyPr>
          <a:lstStyle/>
          <a:p>
            <a:pPr marL="342900" marR="0" indent="-342900" algn="l">
              <a:spcBef>
                <a:spcPts val="1306"/>
              </a:spcBef>
              <a:spcAft>
                <a:spcPts val="1742"/>
              </a:spcAft>
              <a:buFont typeface="Wingdings" panose="05000000000000000000" pitchFamily="2" charset="2"/>
              <a:buChar char="q"/>
            </a:pPr>
            <a:r>
              <a:rPr lang="en-IN" sz="2000" b="1" i="1" dirty="0">
                <a:solidFill>
                  <a:schemeClr val="tx1"/>
                </a:solidFill>
                <a:effectLst/>
                <a:latin typeface="Arial" panose="020B0604020202020204" pitchFamily="34" charset="0"/>
                <a:cs typeface="Arial" panose="020B0604020202020204" pitchFamily="34" charset="0"/>
              </a:rPr>
              <a:t>Insights :</a:t>
            </a:r>
          </a:p>
          <a:p>
            <a:pPr marL="285750" marR="0" indent="-285750" algn="l">
              <a:buFont typeface="Wingdings" panose="05000000000000000000" pitchFamily="2" charset="2"/>
              <a:buChar char="§"/>
            </a:pPr>
            <a:r>
              <a:rPr lang="en-IN" sz="1800" b="0" i="0" dirty="0">
                <a:solidFill>
                  <a:schemeClr val="tx1"/>
                </a:solidFill>
                <a:effectLst/>
                <a:latin typeface="Arial" panose="020B0604020202020204" pitchFamily="34" charset="0"/>
                <a:cs typeface="Arial" panose="020B0604020202020204" pitchFamily="34" charset="0"/>
              </a:rPr>
              <a:t>Mumbai, India, and Nigeria have the highest disaster rates (nearly 80-85%), meaning tweets from these locations are much more likely to be genuine disaster reports, well above the overall average of 43%.</a:t>
            </a:r>
          </a:p>
          <a:p>
            <a:pPr marL="285750" marR="0" indent="-285750" algn="l">
              <a:buFont typeface="Wingdings" panose="05000000000000000000" pitchFamily="2" charset="2"/>
              <a:buChar char="§"/>
            </a:pPr>
            <a:endParaRPr lang="en-IN" sz="1800" b="0" i="0" dirty="0">
              <a:solidFill>
                <a:schemeClr val="tx1"/>
              </a:solidFill>
              <a:effectLst/>
              <a:latin typeface="Arial" panose="020B0604020202020204" pitchFamily="34" charset="0"/>
              <a:cs typeface="Arial" panose="020B0604020202020204" pitchFamily="34" charset="0"/>
            </a:endParaRPr>
          </a:p>
          <a:p>
            <a:pPr marL="285750" marR="0" indent="-285750" algn="l">
              <a:buFont typeface="Wingdings" panose="05000000000000000000" pitchFamily="2" charset="2"/>
              <a:buChar char="§"/>
            </a:pPr>
            <a:r>
              <a:rPr lang="en-IN" sz="1800" b="0" i="0" dirty="0">
                <a:solidFill>
                  <a:schemeClr val="tx1"/>
                </a:solidFill>
                <a:effectLst/>
                <a:latin typeface="Arial" panose="020B0604020202020204" pitchFamily="34" charset="0"/>
                <a:cs typeface="Arial" panose="020B0604020202020204" pitchFamily="34" charset="0"/>
              </a:rPr>
              <a:t>New York and Kenya have the lowest disaster rates (below 25%), meaning tweets from these places are mostly non-disaster chatter, even though they appear frequently in the dataset (especially New York).</a:t>
            </a:r>
          </a:p>
          <a:p>
            <a:pPr marL="285750" marR="0" indent="-285750" algn="l">
              <a:buFont typeface="Wingdings" panose="05000000000000000000" pitchFamily="2" charset="2"/>
              <a:buChar char="§"/>
            </a:pPr>
            <a:endParaRPr lang="en-IN" sz="1800" b="0" i="0" dirty="0">
              <a:solidFill>
                <a:schemeClr val="tx1"/>
              </a:solidFill>
              <a:effectLst/>
              <a:latin typeface="Arial" panose="020B0604020202020204" pitchFamily="34" charset="0"/>
              <a:cs typeface="Arial" panose="020B0604020202020204" pitchFamily="34" charset="0"/>
            </a:endParaRPr>
          </a:p>
          <a:p>
            <a:pPr marL="285750" marR="0" indent="-285750" algn="l">
              <a:buFont typeface="Wingdings" panose="05000000000000000000" pitchFamily="2" charset="2"/>
              <a:buChar char="§"/>
            </a:pPr>
            <a:r>
              <a:rPr lang="en-IN" sz="1800" b="0" i="0" dirty="0">
                <a:solidFill>
                  <a:schemeClr val="tx1"/>
                </a:solidFill>
                <a:effectLst/>
                <a:latin typeface="Arial" panose="020B0604020202020204" pitchFamily="34" charset="0"/>
                <a:cs typeface="Arial" panose="020B0604020202020204" pitchFamily="34" charset="0"/>
              </a:rPr>
              <a:t>Half the top locations are above average, half below — this shows a clear split between "high-alert" locations (Mumbai, India, Nigeria, Washington DC, USA) and "low-alert" locations (Canada, London, LA, Kenya, New York).</a:t>
            </a:r>
            <a:endParaRPr lang="en-IN" sz="1050" b="0" i="0" dirty="0">
              <a:solidFill>
                <a:srgbClr val="FFFFFF"/>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65469854"/>
      </p:ext>
    </p:extLst>
  </p:cSld>
  <p:clrMapOvr>
    <a:masterClrMapping/>
  </p:clrMapOvr>
  <mc:AlternateContent xmlns:mc="http://schemas.openxmlformats.org/markup-compatibility/2006">
    <mc:Choice xmlns:p14="http://schemas.microsoft.com/office/powerpoint/2010/main" Requires="p14">
      <p:transition spd="slow" p14:dur="1250">
        <p14:flip dir="r"/>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4317E55-012A-8310-F0B2-C3C5B48250EF}"/>
              </a:ext>
            </a:extLst>
          </p:cNvPr>
          <p:cNvPicPr>
            <a:picLocks noChangeAspect="1"/>
          </p:cNvPicPr>
          <p:nvPr/>
        </p:nvPicPr>
        <p:blipFill>
          <a:blip r:embed="rId2"/>
          <a:stretch>
            <a:fillRect/>
          </a:stretch>
        </p:blipFill>
        <p:spPr>
          <a:xfrm>
            <a:off x="972030" y="416726"/>
            <a:ext cx="5005983" cy="6024548"/>
          </a:xfrm>
          <a:prstGeom prst="rect">
            <a:avLst/>
          </a:prstGeom>
        </p:spPr>
      </p:pic>
      <p:sp>
        <p:nvSpPr>
          <p:cNvPr id="5" name="TextBox 4">
            <a:extLst>
              <a:ext uri="{FF2B5EF4-FFF2-40B4-BE49-F238E27FC236}">
                <a16:creationId xmlns:a16="http://schemas.microsoft.com/office/drawing/2014/main" id="{8CB1F379-FA35-E9C6-AF89-D5E23E12935D}"/>
              </a:ext>
            </a:extLst>
          </p:cNvPr>
          <p:cNvSpPr txBox="1"/>
          <p:nvPr/>
        </p:nvSpPr>
        <p:spPr>
          <a:xfrm>
            <a:off x="6096000" y="349952"/>
            <a:ext cx="6096000" cy="6158096"/>
          </a:xfrm>
          <a:prstGeom prst="rect">
            <a:avLst/>
          </a:prstGeom>
          <a:noFill/>
        </p:spPr>
        <p:txBody>
          <a:bodyPr wrap="square">
            <a:spAutoFit/>
          </a:bodyPr>
          <a:lstStyle/>
          <a:p>
            <a:pPr marL="342900" marR="0" indent="-342900" algn="l">
              <a:spcBef>
                <a:spcPts val="1306"/>
              </a:spcBef>
              <a:spcAft>
                <a:spcPts val="1742"/>
              </a:spcAft>
              <a:buFont typeface="Wingdings" panose="05000000000000000000" pitchFamily="2" charset="2"/>
              <a:buChar char="q"/>
            </a:pPr>
            <a:r>
              <a:rPr lang="en-IN" sz="2000" b="1" i="1" dirty="0">
                <a:solidFill>
                  <a:schemeClr val="tx1"/>
                </a:solidFill>
                <a:effectLst/>
                <a:latin typeface="Arial" panose="020B0604020202020204" pitchFamily="34" charset="0"/>
                <a:cs typeface="Arial" panose="020B0604020202020204" pitchFamily="34" charset="0"/>
              </a:rPr>
              <a:t>Insights :</a:t>
            </a:r>
          </a:p>
          <a:p>
            <a:pPr marL="285750" marR="0" indent="-285750" algn="l">
              <a:buFont typeface="Wingdings" panose="05000000000000000000" pitchFamily="2" charset="2"/>
              <a:buChar char="§"/>
            </a:pPr>
            <a:r>
              <a:rPr lang="en-IN" sz="1800" b="0" i="0" dirty="0">
                <a:solidFill>
                  <a:schemeClr val="tx1"/>
                </a:solidFill>
                <a:effectLst/>
                <a:latin typeface="Arial" panose="020B0604020202020204" pitchFamily="34" charset="0"/>
                <a:cs typeface="Arial" panose="020B0604020202020204" pitchFamily="34" charset="0"/>
              </a:rPr>
              <a:t>"Outbreak" has almost 100% disaster rate — nearly every tweet with this keyword is a real disaster tweet, making it one of the most reliable predictors in the dataset.</a:t>
            </a:r>
          </a:p>
          <a:p>
            <a:pPr marL="285750" marR="0" indent="-285750" algn="l">
              <a:buFont typeface="Wingdings" panose="05000000000000000000" pitchFamily="2" charset="2"/>
              <a:buChar char="§"/>
            </a:pPr>
            <a:endParaRPr lang="en-IN" sz="1800" b="0" i="0" dirty="0">
              <a:solidFill>
                <a:schemeClr val="tx1"/>
              </a:solidFill>
              <a:effectLst/>
              <a:latin typeface="Arial" panose="020B0604020202020204" pitchFamily="34" charset="0"/>
              <a:cs typeface="Arial" panose="020B0604020202020204" pitchFamily="34" charset="0"/>
            </a:endParaRPr>
          </a:p>
          <a:p>
            <a:pPr marL="285750" marR="0" indent="-285750" algn="l">
              <a:buFont typeface="Wingdings" panose="05000000000000000000" pitchFamily="2" charset="2"/>
              <a:buChar char="§"/>
            </a:pPr>
            <a:r>
              <a:rPr lang="en-IN" sz="1800" b="0" i="0" dirty="0">
                <a:solidFill>
                  <a:schemeClr val="tx1"/>
                </a:solidFill>
                <a:effectLst/>
                <a:latin typeface="Arial" panose="020B0604020202020204" pitchFamily="34" charset="0"/>
                <a:cs typeface="Arial" panose="020B0604020202020204" pitchFamily="34" charset="0"/>
              </a:rPr>
              <a:t>"Evacuate," "fatalities," and "collided" are strong disaster indicators (all above 55%) — these words are commonly tied to real emergencies and can be trusted as high-confidence signals.</a:t>
            </a:r>
          </a:p>
          <a:p>
            <a:pPr marL="285750" marR="0" indent="-285750" algn="l">
              <a:buFont typeface="Wingdings" panose="05000000000000000000" pitchFamily="2" charset="2"/>
              <a:buChar char="§"/>
            </a:pPr>
            <a:endParaRPr lang="en-IN" sz="1800" b="0" i="0" dirty="0">
              <a:solidFill>
                <a:schemeClr val="tx1"/>
              </a:solidFill>
              <a:effectLst/>
              <a:latin typeface="Arial" panose="020B0604020202020204" pitchFamily="34" charset="0"/>
              <a:cs typeface="Arial" panose="020B0604020202020204" pitchFamily="34" charset="0"/>
            </a:endParaRPr>
          </a:p>
          <a:p>
            <a:pPr marL="285750" marR="0" indent="-285750" algn="l">
              <a:buFont typeface="Wingdings" panose="05000000000000000000" pitchFamily="2" charset="2"/>
              <a:buChar char="§"/>
            </a:pPr>
            <a:r>
              <a:rPr lang="en-IN" sz="1800" b="0" i="0" dirty="0">
                <a:solidFill>
                  <a:schemeClr val="tx1"/>
                </a:solidFill>
                <a:effectLst/>
                <a:latin typeface="Arial" panose="020B0604020202020204" pitchFamily="34" charset="0"/>
                <a:cs typeface="Arial" panose="020B0604020202020204" pitchFamily="34" charset="0"/>
              </a:rPr>
              <a:t>High-value keywords for quick alerts — "outbreak," "evacuate," "fatalities," and "collided" could be used as a fast pre-screening filter for emergency monitoring systems, flagging these tweets for immediate human review.</a:t>
            </a:r>
          </a:p>
          <a:p>
            <a:pPr marL="285750" marR="0" indent="-285750" algn="l">
              <a:buFont typeface="Wingdings" panose="05000000000000000000" pitchFamily="2" charset="2"/>
              <a:buChar char="§"/>
            </a:pPr>
            <a:endParaRPr lang="en-IN" sz="1800" b="0" i="0" dirty="0">
              <a:solidFill>
                <a:schemeClr val="tx1"/>
              </a:solidFill>
              <a:effectLst/>
              <a:latin typeface="Arial" panose="020B0604020202020204" pitchFamily="34" charset="0"/>
              <a:cs typeface="Arial" panose="020B0604020202020204" pitchFamily="34" charset="0"/>
            </a:endParaRPr>
          </a:p>
          <a:p>
            <a:pPr marL="285750" marR="0" indent="-285750" algn="l">
              <a:buFont typeface="Wingdings" panose="05000000000000000000" pitchFamily="2" charset="2"/>
              <a:buChar char="§"/>
            </a:pPr>
            <a:r>
              <a:rPr lang="en-IN" sz="1800" b="0" i="0" dirty="0">
                <a:solidFill>
                  <a:schemeClr val="tx1"/>
                </a:solidFill>
                <a:effectLst/>
                <a:latin typeface="Arial" panose="020B0604020202020204" pitchFamily="34" charset="0"/>
                <a:cs typeface="Arial" panose="020B0604020202020204" pitchFamily="34" charset="0"/>
              </a:rPr>
              <a:t>Low-value keywords for filtering noise — words like "body%20bags," "harm," and "</a:t>
            </a:r>
            <a:r>
              <a:rPr lang="en-IN" sz="1800" b="0" i="0" dirty="0" err="1">
                <a:solidFill>
                  <a:schemeClr val="tx1"/>
                </a:solidFill>
                <a:effectLst/>
                <a:latin typeface="Arial" panose="020B0604020202020204" pitchFamily="34" charset="0"/>
                <a:cs typeface="Arial" panose="020B0604020202020204" pitchFamily="34" charset="0"/>
              </a:rPr>
              <a:t>armageddon</a:t>
            </a:r>
            <a:r>
              <a:rPr lang="en-IN" sz="1800" b="0" i="0" dirty="0">
                <a:solidFill>
                  <a:schemeClr val="tx1"/>
                </a:solidFill>
                <a:effectLst/>
                <a:latin typeface="Arial" panose="020B0604020202020204" pitchFamily="34" charset="0"/>
                <a:cs typeface="Arial" panose="020B0604020202020204" pitchFamily="34" charset="0"/>
              </a:rPr>
              <a:t>" could be deprioritized or down-weighted in rule-based systems since they mostly represent non-disaster.</a:t>
            </a:r>
            <a:endParaRPr lang="en-IN" sz="1050" b="0" i="0" dirty="0">
              <a:solidFill>
                <a:srgbClr val="FFFFFF"/>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44984464"/>
      </p:ext>
    </p:extLst>
  </p:cSld>
  <p:clrMapOvr>
    <a:masterClrMapping/>
  </p:clrMapOvr>
  <mc:AlternateContent xmlns:mc="http://schemas.openxmlformats.org/markup-compatibility/2006">
    <mc:Choice xmlns:p14="http://schemas.microsoft.com/office/powerpoint/2010/main" Requires="p14">
      <p:transition spd="slow" p14:dur="1250">
        <p14:flip dir="r"/>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75BDC76-7877-98BF-0DEF-211A18CE4E2D}"/>
              </a:ext>
            </a:extLst>
          </p:cNvPr>
          <p:cNvPicPr>
            <a:picLocks noChangeAspect="1"/>
          </p:cNvPicPr>
          <p:nvPr/>
        </p:nvPicPr>
        <p:blipFill>
          <a:blip r:embed="rId2"/>
          <a:stretch>
            <a:fillRect/>
          </a:stretch>
        </p:blipFill>
        <p:spPr>
          <a:xfrm>
            <a:off x="1065607" y="707800"/>
            <a:ext cx="5030393" cy="5662155"/>
          </a:xfrm>
          <a:prstGeom prst="rect">
            <a:avLst/>
          </a:prstGeom>
        </p:spPr>
      </p:pic>
      <p:sp>
        <p:nvSpPr>
          <p:cNvPr id="5" name="TextBox 4">
            <a:extLst>
              <a:ext uri="{FF2B5EF4-FFF2-40B4-BE49-F238E27FC236}">
                <a16:creationId xmlns:a16="http://schemas.microsoft.com/office/drawing/2014/main" id="{2B0B245B-4545-2174-8775-1B780E461D8A}"/>
              </a:ext>
            </a:extLst>
          </p:cNvPr>
          <p:cNvSpPr txBox="1"/>
          <p:nvPr/>
        </p:nvSpPr>
        <p:spPr>
          <a:xfrm>
            <a:off x="6322141" y="875327"/>
            <a:ext cx="5633884" cy="5327099"/>
          </a:xfrm>
          <a:prstGeom prst="rect">
            <a:avLst/>
          </a:prstGeom>
          <a:noFill/>
        </p:spPr>
        <p:txBody>
          <a:bodyPr wrap="square">
            <a:spAutoFit/>
          </a:bodyPr>
          <a:lstStyle/>
          <a:p>
            <a:pPr marL="342900" marR="0" indent="-342900" algn="l">
              <a:spcBef>
                <a:spcPts val="1306"/>
              </a:spcBef>
              <a:spcAft>
                <a:spcPts val="1742"/>
              </a:spcAft>
              <a:buFont typeface="Wingdings" panose="05000000000000000000" pitchFamily="2" charset="2"/>
              <a:buChar char="q"/>
            </a:pPr>
            <a:r>
              <a:rPr lang="en-IN" sz="2000" b="1" i="1" dirty="0">
                <a:solidFill>
                  <a:schemeClr val="tx1"/>
                </a:solidFill>
                <a:effectLst/>
                <a:latin typeface="Arial" panose="020B0604020202020204" pitchFamily="34" charset="0"/>
                <a:cs typeface="Arial" panose="020B0604020202020204" pitchFamily="34" charset="0"/>
              </a:rPr>
              <a:t>Insights :</a:t>
            </a:r>
          </a:p>
          <a:p>
            <a:pPr marL="285750" marR="0" indent="-285750" algn="l">
              <a:buFont typeface="Wingdings" panose="05000000000000000000" pitchFamily="2" charset="2"/>
              <a:buChar char="§"/>
            </a:pPr>
            <a:r>
              <a:rPr lang="en-IN" sz="1800" b="0" i="0" dirty="0">
                <a:solidFill>
                  <a:schemeClr val="tx1"/>
                </a:solidFill>
                <a:effectLst/>
                <a:latin typeface="Arial" panose="020B0604020202020204" pitchFamily="34" charset="0"/>
                <a:cs typeface="Arial" panose="020B0604020202020204" pitchFamily="34" charset="0"/>
              </a:rPr>
              <a:t>Tweet length and word count are strongly linked (0.82) — this makes sense, since longer tweets naturally have more words. This means using both features together may be redundant for </a:t>
            </a:r>
            <a:r>
              <a:rPr lang="en-IN" sz="1800" b="0" i="0" dirty="0" err="1">
                <a:solidFill>
                  <a:schemeClr val="tx1"/>
                </a:solidFill>
                <a:effectLst/>
                <a:latin typeface="Arial" panose="020B0604020202020204" pitchFamily="34" charset="0"/>
                <a:cs typeface="Arial" panose="020B0604020202020204" pitchFamily="34" charset="0"/>
              </a:rPr>
              <a:t>modeling</a:t>
            </a:r>
            <a:r>
              <a:rPr lang="en-IN" sz="1800" b="0" i="0" dirty="0">
                <a:solidFill>
                  <a:schemeClr val="tx1"/>
                </a:solidFill>
                <a:effectLst/>
                <a:latin typeface="Arial" panose="020B0604020202020204" pitchFamily="34" charset="0"/>
                <a:cs typeface="Arial" panose="020B0604020202020204" pitchFamily="34" charset="0"/>
              </a:rPr>
              <a:t>.</a:t>
            </a:r>
          </a:p>
          <a:p>
            <a:pPr marL="285750" marR="0" indent="-285750" algn="l">
              <a:buFont typeface="Wingdings" panose="05000000000000000000" pitchFamily="2" charset="2"/>
              <a:buChar char="§"/>
            </a:pPr>
            <a:endParaRPr lang="en-IN" sz="1800" b="0" i="0" dirty="0">
              <a:solidFill>
                <a:schemeClr val="tx1"/>
              </a:solidFill>
              <a:effectLst/>
              <a:latin typeface="Arial" panose="020B0604020202020204" pitchFamily="34" charset="0"/>
              <a:cs typeface="Arial" panose="020B0604020202020204" pitchFamily="34" charset="0"/>
            </a:endParaRPr>
          </a:p>
          <a:p>
            <a:pPr marL="285750" marR="0" indent="-285750" algn="l">
              <a:buFont typeface="Wingdings" panose="05000000000000000000" pitchFamily="2" charset="2"/>
              <a:buChar char="§"/>
            </a:pPr>
            <a:r>
              <a:rPr lang="en-IN" sz="1800" b="0" i="0" dirty="0">
                <a:solidFill>
                  <a:schemeClr val="tx1"/>
                </a:solidFill>
                <a:effectLst/>
                <a:latin typeface="Arial" panose="020B0604020202020204" pitchFamily="34" charset="0"/>
                <a:cs typeface="Arial" panose="020B0604020202020204" pitchFamily="34" charset="0"/>
              </a:rPr>
              <a:t>Hashtags have almost no impact on disaster classification (0.07) — using a hashtag doesn't meaningfully indicate whether a tweet is about a disaster or not, so hashtag presence alone isn't a useful feature.</a:t>
            </a:r>
          </a:p>
          <a:p>
            <a:pPr marL="285750" marR="0" indent="-285750" algn="l">
              <a:buFont typeface="Wingdings" panose="05000000000000000000" pitchFamily="2" charset="2"/>
              <a:buChar char="§"/>
            </a:pPr>
            <a:endParaRPr lang="en-IN" sz="1800" b="0" i="0" dirty="0">
              <a:solidFill>
                <a:schemeClr val="tx1"/>
              </a:solidFill>
              <a:effectLst/>
              <a:latin typeface="Arial" panose="020B0604020202020204" pitchFamily="34" charset="0"/>
              <a:cs typeface="Arial" panose="020B0604020202020204" pitchFamily="34" charset="0"/>
            </a:endParaRPr>
          </a:p>
          <a:p>
            <a:pPr marL="285750" marR="0" indent="-285750" algn="l">
              <a:buFont typeface="Wingdings" panose="05000000000000000000" pitchFamily="2" charset="2"/>
              <a:buChar char="§"/>
            </a:pPr>
            <a:r>
              <a:rPr lang="en-IN" sz="1800" b="0" i="0" dirty="0">
                <a:solidFill>
                  <a:schemeClr val="tx1"/>
                </a:solidFill>
                <a:effectLst/>
                <a:latin typeface="Arial" panose="020B0604020202020204" pitchFamily="34" charset="0"/>
                <a:cs typeface="Arial" panose="020B0604020202020204" pitchFamily="34" charset="0"/>
              </a:rPr>
              <a:t>All correlations are weak overall — no single feature strongly predicts disaster vs non-disaster on its own. This confirms that simple tweet metadata (length, hashtags, mentions) is not enough — the actual text content and keywords matter much more.</a:t>
            </a:r>
            <a:endParaRPr lang="en-IN" sz="1050" b="0" i="0" dirty="0">
              <a:solidFill>
                <a:srgbClr val="FFFFFF"/>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21880658"/>
      </p:ext>
    </p:extLst>
  </p:cSld>
  <p:clrMapOvr>
    <a:masterClrMapping/>
  </p:clrMapOvr>
  <mc:AlternateContent xmlns:mc="http://schemas.openxmlformats.org/markup-compatibility/2006">
    <mc:Choice xmlns:p14="http://schemas.microsoft.com/office/powerpoint/2010/main" Requires="p14">
      <p:transition spd="slow" p14:dur="1250">
        <p14:flip dir="r"/>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5946DE3-6DC8-E4DE-602D-814622A7B5C5}"/>
              </a:ext>
            </a:extLst>
          </p:cNvPr>
          <p:cNvPicPr>
            <a:picLocks noChangeAspect="1"/>
          </p:cNvPicPr>
          <p:nvPr/>
        </p:nvPicPr>
        <p:blipFill>
          <a:blip r:embed="rId2"/>
          <a:srcRect l="192" t="-170" r="33237" b="26576"/>
          <a:stretch>
            <a:fillRect/>
          </a:stretch>
        </p:blipFill>
        <p:spPr>
          <a:xfrm>
            <a:off x="1199535" y="501446"/>
            <a:ext cx="10500852" cy="5624052"/>
          </a:xfrm>
          <a:prstGeom prst="rect">
            <a:avLst/>
          </a:prstGeom>
        </p:spPr>
      </p:pic>
    </p:spTree>
    <p:extLst>
      <p:ext uri="{BB962C8B-B14F-4D97-AF65-F5344CB8AC3E}">
        <p14:creationId xmlns:p14="http://schemas.microsoft.com/office/powerpoint/2010/main" val="2086956714"/>
      </p:ext>
    </p:extLst>
  </p:cSld>
  <p:clrMapOvr>
    <a:masterClrMapping/>
  </p:clrMapOvr>
  <mc:AlternateContent xmlns:mc="http://schemas.openxmlformats.org/markup-compatibility/2006">
    <mc:Choice xmlns:p14="http://schemas.microsoft.com/office/powerpoint/2010/main" Requires="p14">
      <p:transition spd="slow" p14:dur="1250">
        <p14:flip dir="r"/>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C77DAD8-9185-D6A1-FA35-6A306F250F3C}"/>
              </a:ext>
            </a:extLst>
          </p:cNvPr>
          <p:cNvPicPr>
            <a:picLocks noChangeAspect="1"/>
          </p:cNvPicPr>
          <p:nvPr/>
        </p:nvPicPr>
        <p:blipFill>
          <a:blip r:embed="rId2"/>
          <a:stretch>
            <a:fillRect/>
          </a:stretch>
        </p:blipFill>
        <p:spPr>
          <a:xfrm>
            <a:off x="1600587" y="120378"/>
            <a:ext cx="9490200" cy="3886847"/>
          </a:xfrm>
          <a:prstGeom prst="rect">
            <a:avLst/>
          </a:prstGeom>
        </p:spPr>
      </p:pic>
      <p:sp>
        <p:nvSpPr>
          <p:cNvPr id="5" name="TextBox 4">
            <a:extLst>
              <a:ext uri="{FF2B5EF4-FFF2-40B4-BE49-F238E27FC236}">
                <a16:creationId xmlns:a16="http://schemas.microsoft.com/office/drawing/2014/main" id="{4A7E4863-A96F-329A-3975-AA0A07F62FB7}"/>
              </a:ext>
            </a:extLst>
          </p:cNvPr>
          <p:cNvSpPr txBox="1"/>
          <p:nvPr/>
        </p:nvSpPr>
        <p:spPr>
          <a:xfrm>
            <a:off x="1877960" y="4302585"/>
            <a:ext cx="8681884" cy="2280111"/>
          </a:xfrm>
          <a:prstGeom prst="rect">
            <a:avLst/>
          </a:prstGeom>
          <a:noFill/>
        </p:spPr>
        <p:txBody>
          <a:bodyPr wrap="square">
            <a:spAutoFit/>
          </a:bodyPr>
          <a:lstStyle/>
          <a:p>
            <a:pPr marL="342900" marR="0" indent="-342900" algn="l">
              <a:spcBef>
                <a:spcPts val="1306"/>
              </a:spcBef>
              <a:spcAft>
                <a:spcPts val="1742"/>
              </a:spcAft>
              <a:buFont typeface="Wingdings" panose="05000000000000000000" pitchFamily="2" charset="2"/>
              <a:buChar char="q"/>
            </a:pPr>
            <a:r>
              <a:rPr lang="en-IN" sz="2000" b="1" i="1" dirty="0">
                <a:solidFill>
                  <a:schemeClr val="tx1"/>
                </a:solidFill>
                <a:effectLst/>
                <a:latin typeface="Arial" panose="020B0604020202020204" pitchFamily="34" charset="0"/>
                <a:cs typeface="Arial" panose="020B0604020202020204" pitchFamily="34" charset="0"/>
              </a:rPr>
              <a:t>Insights :</a:t>
            </a:r>
          </a:p>
          <a:p>
            <a:pPr marL="285750" marR="0" indent="-285750" algn="l">
              <a:buFont typeface="Wingdings" panose="05000000000000000000" pitchFamily="2" charset="2"/>
              <a:buChar char="§"/>
            </a:pPr>
            <a:r>
              <a:rPr lang="en-IN" sz="1800" b="0" i="0" dirty="0">
                <a:solidFill>
                  <a:schemeClr val="tx1"/>
                </a:solidFill>
                <a:effectLst/>
                <a:latin typeface="Arial" panose="020B0604020202020204" pitchFamily="34" charset="0"/>
                <a:cs typeface="Arial" panose="020B0604020202020204" pitchFamily="34" charset="0"/>
              </a:rPr>
              <a:t>Overall accuracy is about 80% — the model correctly classifies 1,225 out of 1,523 tweets, which is a solid baseline performance for a text classification task.</a:t>
            </a:r>
          </a:p>
          <a:p>
            <a:pPr marL="285750" marR="0" indent="-285750" algn="l">
              <a:buFont typeface="Wingdings" panose="05000000000000000000" pitchFamily="2" charset="2"/>
              <a:buChar char="§"/>
            </a:pPr>
            <a:endParaRPr lang="en-IN" sz="1800" b="0" i="0" dirty="0">
              <a:solidFill>
                <a:schemeClr val="tx1"/>
              </a:solidFill>
              <a:effectLst/>
              <a:latin typeface="Arial" panose="020B0604020202020204" pitchFamily="34" charset="0"/>
              <a:cs typeface="Arial" panose="020B0604020202020204" pitchFamily="34" charset="0"/>
            </a:endParaRPr>
          </a:p>
          <a:p>
            <a:pPr marL="285750" marR="0" indent="-285750" algn="l">
              <a:buFont typeface="Wingdings" panose="05000000000000000000" pitchFamily="2" charset="2"/>
              <a:buChar char="§"/>
            </a:pPr>
            <a:r>
              <a:rPr lang="en-IN" sz="1800" b="0" i="0" dirty="0">
                <a:solidFill>
                  <a:schemeClr val="tx1"/>
                </a:solidFill>
                <a:effectLst/>
                <a:latin typeface="Arial" panose="020B0604020202020204" pitchFamily="34" charset="0"/>
                <a:cs typeface="Arial" panose="020B0604020202020204" pitchFamily="34" charset="0"/>
              </a:rPr>
              <a:t>The model is better at detecting non-disaster tweets (87% recall) — out of 869 actual non-disaster tweets, it correctly identified 759, showing strong reliability for filtering out normal.</a:t>
            </a:r>
            <a:endParaRPr lang="en-IN" sz="1050" b="0" i="0" dirty="0">
              <a:solidFill>
                <a:srgbClr val="FFFFFF"/>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03980621"/>
      </p:ext>
    </p:extLst>
  </p:cSld>
  <p:clrMapOvr>
    <a:masterClrMapping/>
  </p:clrMapOvr>
  <mc:AlternateContent xmlns:mc="http://schemas.openxmlformats.org/markup-compatibility/2006">
    <mc:Choice xmlns:p14="http://schemas.microsoft.com/office/powerpoint/2010/main" Requires="p14">
      <p:transition spd="slow" p14:dur="1250">
        <p14:flip dir="r"/>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A261D37-F588-CE04-77E0-18AAC2183479}"/>
              </a:ext>
            </a:extLst>
          </p:cNvPr>
          <p:cNvPicPr>
            <a:picLocks noChangeAspect="1"/>
          </p:cNvPicPr>
          <p:nvPr/>
        </p:nvPicPr>
        <p:blipFill>
          <a:blip r:embed="rId2"/>
          <a:stretch>
            <a:fillRect/>
          </a:stretch>
        </p:blipFill>
        <p:spPr>
          <a:xfrm>
            <a:off x="1678488" y="341695"/>
            <a:ext cx="9641268" cy="3345401"/>
          </a:xfrm>
          <a:prstGeom prst="rect">
            <a:avLst/>
          </a:prstGeom>
        </p:spPr>
      </p:pic>
      <p:sp>
        <p:nvSpPr>
          <p:cNvPr id="5" name="TextBox 4">
            <a:extLst>
              <a:ext uri="{FF2B5EF4-FFF2-40B4-BE49-F238E27FC236}">
                <a16:creationId xmlns:a16="http://schemas.microsoft.com/office/drawing/2014/main" id="{AF67F92E-D4A3-425D-05E5-B15E9178BD30}"/>
              </a:ext>
            </a:extLst>
          </p:cNvPr>
          <p:cNvSpPr txBox="1"/>
          <p:nvPr/>
        </p:nvSpPr>
        <p:spPr>
          <a:xfrm>
            <a:off x="2025446" y="3888633"/>
            <a:ext cx="8625718" cy="2280111"/>
          </a:xfrm>
          <a:prstGeom prst="rect">
            <a:avLst/>
          </a:prstGeom>
          <a:noFill/>
        </p:spPr>
        <p:txBody>
          <a:bodyPr wrap="square">
            <a:spAutoFit/>
          </a:bodyPr>
          <a:lstStyle/>
          <a:p>
            <a:pPr marL="342900" marR="0" indent="-342900" algn="l">
              <a:spcBef>
                <a:spcPts val="1306"/>
              </a:spcBef>
              <a:spcAft>
                <a:spcPts val="1742"/>
              </a:spcAft>
              <a:buFont typeface="Wingdings" panose="05000000000000000000" pitchFamily="2" charset="2"/>
              <a:buChar char="q"/>
            </a:pPr>
            <a:r>
              <a:rPr lang="en-IN" sz="2000" b="1" i="1" dirty="0">
                <a:solidFill>
                  <a:schemeClr val="tx1"/>
                </a:solidFill>
                <a:effectLst/>
                <a:latin typeface="Arial" panose="020B0604020202020204" pitchFamily="34" charset="0"/>
                <a:cs typeface="Arial" panose="020B0604020202020204" pitchFamily="34" charset="0"/>
              </a:rPr>
              <a:t>Insights :</a:t>
            </a:r>
          </a:p>
          <a:p>
            <a:pPr marL="285750" marR="0" indent="-285750" algn="l">
              <a:buFont typeface="Wingdings" panose="05000000000000000000" pitchFamily="2" charset="2"/>
              <a:buChar char="§"/>
            </a:pPr>
            <a:r>
              <a:rPr lang="en-IN" sz="1800" b="0" i="0" dirty="0">
                <a:solidFill>
                  <a:schemeClr val="tx1"/>
                </a:solidFill>
                <a:effectLst/>
                <a:latin typeface="Arial" panose="020B0604020202020204" pitchFamily="34" charset="0"/>
                <a:cs typeface="Arial" panose="020B0604020202020204" pitchFamily="34" charset="0"/>
              </a:rPr>
              <a:t>AUC score of 0.871 shows strong model performance — this means the model is quite good at distinguishing disaster tweets from non-disaster tweets, well above random guessing (which would be 0.5).</a:t>
            </a:r>
          </a:p>
          <a:p>
            <a:pPr marL="285750" marR="0" indent="-285750" algn="l">
              <a:buFont typeface="Wingdings" panose="05000000000000000000" pitchFamily="2" charset="2"/>
              <a:buChar char="§"/>
            </a:pPr>
            <a:endParaRPr lang="en-IN" sz="1800" b="0" i="0" dirty="0">
              <a:solidFill>
                <a:schemeClr val="tx1"/>
              </a:solidFill>
              <a:effectLst/>
              <a:latin typeface="Arial" panose="020B0604020202020204" pitchFamily="34" charset="0"/>
              <a:cs typeface="Arial" panose="020B0604020202020204" pitchFamily="34" charset="0"/>
            </a:endParaRPr>
          </a:p>
          <a:p>
            <a:pPr marL="285750" marR="0" indent="-285750" algn="l">
              <a:buFont typeface="Wingdings" panose="05000000000000000000" pitchFamily="2" charset="2"/>
              <a:buChar char="§"/>
            </a:pPr>
            <a:r>
              <a:rPr lang="en-IN" sz="1800" b="0" i="0" dirty="0">
                <a:solidFill>
                  <a:schemeClr val="tx1"/>
                </a:solidFill>
                <a:effectLst/>
                <a:latin typeface="Arial" panose="020B0604020202020204" pitchFamily="34" charset="0"/>
                <a:cs typeface="Arial" panose="020B0604020202020204" pitchFamily="34" charset="0"/>
              </a:rPr>
              <a:t>The model performs much better than chance — the red curve stays far above the diagonal dashed line, confirming the model has real predictive power.</a:t>
            </a:r>
            <a:endParaRPr lang="en-IN" sz="1050" b="0" i="0" dirty="0">
              <a:solidFill>
                <a:srgbClr val="FFFFFF"/>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48052360"/>
      </p:ext>
    </p:extLst>
  </p:cSld>
  <p:clrMapOvr>
    <a:masterClrMapping/>
  </p:clrMapOvr>
  <mc:AlternateContent xmlns:mc="http://schemas.openxmlformats.org/markup-compatibility/2006">
    <mc:Choice xmlns:p14="http://schemas.microsoft.com/office/powerpoint/2010/main" Requires="p14">
      <p:transition spd="slow" p14:dur="1250">
        <p14:flip dir="r"/>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10328F8-2224-D166-DFAA-67686ADC28A0}"/>
              </a:ext>
            </a:extLst>
          </p:cNvPr>
          <p:cNvPicPr>
            <a:picLocks noChangeAspect="1"/>
          </p:cNvPicPr>
          <p:nvPr/>
        </p:nvPicPr>
        <p:blipFill>
          <a:blip r:embed="rId2"/>
          <a:stretch>
            <a:fillRect/>
          </a:stretch>
        </p:blipFill>
        <p:spPr>
          <a:xfrm>
            <a:off x="1013904" y="1012722"/>
            <a:ext cx="4938752" cy="5083277"/>
          </a:xfrm>
          <a:prstGeom prst="rect">
            <a:avLst/>
          </a:prstGeom>
        </p:spPr>
      </p:pic>
      <p:sp>
        <p:nvSpPr>
          <p:cNvPr id="5" name="TextBox 4">
            <a:extLst>
              <a:ext uri="{FF2B5EF4-FFF2-40B4-BE49-F238E27FC236}">
                <a16:creationId xmlns:a16="http://schemas.microsoft.com/office/drawing/2014/main" id="{8607960A-4E8F-052B-A262-FEAFF6D6F1F9}"/>
              </a:ext>
            </a:extLst>
          </p:cNvPr>
          <p:cNvSpPr txBox="1"/>
          <p:nvPr/>
        </p:nvSpPr>
        <p:spPr>
          <a:xfrm>
            <a:off x="6316449" y="1598696"/>
            <a:ext cx="5610079" cy="3911327"/>
          </a:xfrm>
          <a:prstGeom prst="rect">
            <a:avLst/>
          </a:prstGeom>
          <a:noFill/>
        </p:spPr>
        <p:txBody>
          <a:bodyPr wrap="square">
            <a:spAutoFit/>
          </a:bodyPr>
          <a:lstStyle/>
          <a:p>
            <a:pPr marL="285750" marR="0" indent="-285750" algn="l">
              <a:spcBef>
                <a:spcPts val="1306"/>
              </a:spcBef>
              <a:spcAft>
                <a:spcPts val="1742"/>
              </a:spcAft>
              <a:buFont typeface="Wingdings" panose="05000000000000000000" pitchFamily="2" charset="2"/>
              <a:buChar char="q"/>
            </a:pPr>
            <a:r>
              <a:rPr lang="en-IN" sz="1800" b="1" i="1" dirty="0">
                <a:solidFill>
                  <a:schemeClr val="tx1"/>
                </a:solidFill>
                <a:effectLst/>
                <a:latin typeface="Arial" panose="020B0604020202020204" pitchFamily="34" charset="0"/>
                <a:cs typeface="Arial" panose="020B0604020202020204" pitchFamily="34" charset="0"/>
              </a:rPr>
              <a:t>Insights :</a:t>
            </a:r>
          </a:p>
          <a:p>
            <a:pPr marL="285750" marR="0" indent="-285750" algn="l">
              <a:buFont typeface="Wingdings" panose="05000000000000000000" pitchFamily="2" charset="2"/>
              <a:buChar char="§"/>
            </a:pPr>
            <a:r>
              <a:rPr lang="en-IN" sz="1800" b="0" i="0" dirty="0">
                <a:solidFill>
                  <a:schemeClr val="tx1"/>
                </a:solidFill>
                <a:effectLst/>
                <a:latin typeface="Arial" panose="020B0604020202020204" pitchFamily="34" charset="0"/>
                <a:cs typeface="Arial" panose="020B0604020202020204" pitchFamily="34" charset="0"/>
              </a:rPr>
              <a:t>The model over-predicts non-disaster tweets — actual non-disaster count is about 869, but the model predicted around 947, meaning it's </a:t>
            </a:r>
            <a:r>
              <a:rPr lang="en-IN" sz="1800" b="0" i="0" dirty="0" err="1">
                <a:solidFill>
                  <a:schemeClr val="tx1"/>
                </a:solidFill>
                <a:effectLst/>
                <a:latin typeface="Arial" panose="020B0604020202020204" pitchFamily="34" charset="0"/>
                <a:cs typeface="Arial" panose="020B0604020202020204" pitchFamily="34" charset="0"/>
              </a:rPr>
              <a:t>labeling</a:t>
            </a:r>
            <a:r>
              <a:rPr lang="en-IN" sz="1800" b="0" i="0" dirty="0">
                <a:solidFill>
                  <a:schemeClr val="tx1"/>
                </a:solidFill>
                <a:effectLst/>
                <a:latin typeface="Arial" panose="020B0604020202020204" pitchFamily="34" charset="0"/>
                <a:cs typeface="Arial" panose="020B0604020202020204" pitchFamily="34" charset="0"/>
              </a:rPr>
              <a:t> some real disasters as non-disaster.</a:t>
            </a:r>
          </a:p>
          <a:p>
            <a:pPr marL="285750" marR="0" indent="-285750" algn="l">
              <a:buFont typeface="Wingdings" panose="05000000000000000000" pitchFamily="2" charset="2"/>
              <a:buChar char="§"/>
            </a:pPr>
            <a:endParaRPr lang="en-IN" sz="1800" b="0" i="0" dirty="0">
              <a:solidFill>
                <a:schemeClr val="tx1"/>
              </a:solidFill>
              <a:effectLst/>
              <a:latin typeface="Arial" panose="020B0604020202020204" pitchFamily="34" charset="0"/>
              <a:cs typeface="Arial" panose="020B0604020202020204" pitchFamily="34" charset="0"/>
            </a:endParaRPr>
          </a:p>
          <a:p>
            <a:pPr marL="285750" marR="0" indent="-285750" algn="l">
              <a:buFont typeface="Wingdings" panose="05000000000000000000" pitchFamily="2" charset="2"/>
              <a:buChar char="§"/>
            </a:pPr>
            <a:r>
              <a:rPr lang="en-IN" sz="1800" b="0" i="0" dirty="0">
                <a:solidFill>
                  <a:schemeClr val="tx1"/>
                </a:solidFill>
                <a:effectLst/>
                <a:latin typeface="Arial" panose="020B0604020202020204" pitchFamily="34" charset="0"/>
                <a:cs typeface="Arial" panose="020B0604020202020204" pitchFamily="34" charset="0"/>
              </a:rPr>
              <a:t>The model under-predicts disaster tweets — actual disaster count is about 654, but the model only predicted around 576.</a:t>
            </a:r>
          </a:p>
          <a:p>
            <a:pPr marL="285750" marR="0" indent="-285750" algn="l">
              <a:buFont typeface="Wingdings" panose="05000000000000000000" pitchFamily="2" charset="2"/>
              <a:buChar char="§"/>
            </a:pPr>
            <a:endParaRPr lang="en-IN" sz="1800" b="0" i="0" dirty="0">
              <a:solidFill>
                <a:schemeClr val="tx1"/>
              </a:solidFill>
              <a:effectLst/>
              <a:latin typeface="Arial" panose="020B0604020202020204" pitchFamily="34" charset="0"/>
              <a:cs typeface="Arial" panose="020B0604020202020204" pitchFamily="34" charset="0"/>
            </a:endParaRPr>
          </a:p>
          <a:p>
            <a:pPr marL="285750" marR="0" indent="-285750" algn="l">
              <a:buFont typeface="Wingdings" panose="05000000000000000000" pitchFamily="2" charset="2"/>
              <a:buChar char="§"/>
            </a:pPr>
            <a:r>
              <a:rPr lang="en-IN" sz="1800" b="0" i="0" dirty="0">
                <a:solidFill>
                  <a:schemeClr val="tx1"/>
                </a:solidFill>
                <a:effectLst/>
                <a:latin typeface="Arial" panose="020B0604020202020204" pitchFamily="34" charset="0"/>
                <a:cs typeface="Arial" panose="020B0604020202020204" pitchFamily="34" charset="0"/>
              </a:rPr>
              <a:t>overall accuracy was around 80%, this chart visually shows the model consistently shifts predictions away from the disaster class.</a:t>
            </a:r>
            <a:endParaRPr lang="en-IN" sz="1050" b="0" i="0" dirty="0">
              <a:solidFill>
                <a:srgbClr val="FFFFFF"/>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86526766"/>
      </p:ext>
    </p:extLst>
  </p:cSld>
  <p:clrMapOvr>
    <a:masterClrMapping/>
  </p:clrMapOvr>
  <mc:AlternateContent xmlns:mc="http://schemas.openxmlformats.org/markup-compatibility/2006">
    <mc:Choice xmlns:p14="http://schemas.microsoft.com/office/powerpoint/2010/main" Requires="p14">
      <p:transition spd="slow" p14:dur="1250">
        <p14:flip dir="r"/>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768C57-BBA5-EA59-AF86-E397E300AB78}"/>
              </a:ext>
            </a:extLst>
          </p:cNvPr>
          <p:cNvPicPr>
            <a:picLocks noChangeAspect="1"/>
          </p:cNvPicPr>
          <p:nvPr/>
        </p:nvPicPr>
        <p:blipFill>
          <a:blip r:embed="rId2"/>
          <a:stretch>
            <a:fillRect/>
          </a:stretch>
        </p:blipFill>
        <p:spPr>
          <a:xfrm>
            <a:off x="952821" y="389315"/>
            <a:ext cx="4897374" cy="3039685"/>
          </a:xfrm>
          <a:prstGeom prst="rect">
            <a:avLst/>
          </a:prstGeom>
        </p:spPr>
      </p:pic>
      <p:pic>
        <p:nvPicPr>
          <p:cNvPr id="5" name="Picture 4">
            <a:extLst>
              <a:ext uri="{FF2B5EF4-FFF2-40B4-BE49-F238E27FC236}">
                <a16:creationId xmlns:a16="http://schemas.microsoft.com/office/drawing/2014/main" id="{718854A6-63EB-9765-763F-F06E4051B51D}"/>
              </a:ext>
            </a:extLst>
          </p:cNvPr>
          <p:cNvPicPr>
            <a:picLocks noChangeAspect="1"/>
          </p:cNvPicPr>
          <p:nvPr/>
        </p:nvPicPr>
        <p:blipFill>
          <a:blip r:embed="rId3"/>
          <a:stretch>
            <a:fillRect/>
          </a:stretch>
        </p:blipFill>
        <p:spPr>
          <a:xfrm>
            <a:off x="6341806" y="389316"/>
            <a:ext cx="5574891" cy="2645271"/>
          </a:xfrm>
          <a:prstGeom prst="rect">
            <a:avLst/>
          </a:prstGeom>
        </p:spPr>
      </p:pic>
      <p:sp>
        <p:nvSpPr>
          <p:cNvPr id="7" name="TextBox 6">
            <a:extLst>
              <a:ext uri="{FF2B5EF4-FFF2-40B4-BE49-F238E27FC236}">
                <a16:creationId xmlns:a16="http://schemas.microsoft.com/office/drawing/2014/main" id="{32BFECB1-1D57-2A08-E25E-986B551542CD}"/>
              </a:ext>
            </a:extLst>
          </p:cNvPr>
          <p:cNvSpPr txBox="1"/>
          <p:nvPr/>
        </p:nvSpPr>
        <p:spPr>
          <a:xfrm>
            <a:off x="875071" y="3673684"/>
            <a:ext cx="5053781" cy="2280111"/>
          </a:xfrm>
          <a:prstGeom prst="rect">
            <a:avLst/>
          </a:prstGeom>
          <a:noFill/>
        </p:spPr>
        <p:txBody>
          <a:bodyPr wrap="square">
            <a:spAutoFit/>
          </a:bodyPr>
          <a:lstStyle/>
          <a:p>
            <a:pPr marL="342900" marR="0" indent="-342900" algn="l">
              <a:spcBef>
                <a:spcPts val="1306"/>
              </a:spcBef>
              <a:spcAft>
                <a:spcPts val="1742"/>
              </a:spcAft>
              <a:buFont typeface="Wingdings" panose="05000000000000000000" pitchFamily="2" charset="2"/>
              <a:buChar char="q"/>
            </a:pPr>
            <a:r>
              <a:rPr lang="en-IN" sz="2000" b="1" i="1" dirty="0">
                <a:solidFill>
                  <a:schemeClr val="tx1"/>
                </a:solidFill>
                <a:effectLst/>
                <a:latin typeface="Arial" panose="020B0604020202020204" pitchFamily="34" charset="0"/>
                <a:cs typeface="Arial" panose="020B0604020202020204" pitchFamily="34" charset="0"/>
              </a:rPr>
              <a:t>Insights :</a:t>
            </a:r>
          </a:p>
          <a:p>
            <a:pPr marL="285750" marR="0" indent="-285750" algn="l">
              <a:buFont typeface="Wingdings" panose="05000000000000000000" pitchFamily="2" charset="2"/>
              <a:buChar char="§"/>
            </a:pPr>
            <a:r>
              <a:rPr lang="en-IN" sz="1800" b="0" i="0" dirty="0">
                <a:solidFill>
                  <a:schemeClr val="tx1"/>
                </a:solidFill>
                <a:effectLst/>
                <a:latin typeface="Arial" panose="020B0604020202020204" pitchFamily="34" charset="0"/>
                <a:cs typeface="Arial" panose="020B0604020202020204" pitchFamily="34" charset="0"/>
              </a:rPr>
              <a:t>The model confidently predicts a real disaster — with 81% probability, the tweet "Massive wildfire spreading fast near the highway, evacuations underway" is correctly classified as a disaster, showing strong real-world applicability.</a:t>
            </a:r>
            <a:endParaRPr lang="en-IN" sz="1050" b="0" i="0" dirty="0">
              <a:solidFill>
                <a:srgbClr val="FFFFFF"/>
              </a:solidFill>
              <a:effectLst/>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2021AFBC-9A39-53B8-67BB-3B89C489878C}"/>
              </a:ext>
            </a:extLst>
          </p:cNvPr>
          <p:cNvSpPr txBox="1"/>
          <p:nvPr/>
        </p:nvSpPr>
        <p:spPr>
          <a:xfrm>
            <a:off x="6341806" y="3207987"/>
            <a:ext cx="5840361" cy="3477875"/>
          </a:xfrm>
          <a:prstGeom prst="rect">
            <a:avLst/>
          </a:prstGeom>
          <a:noFill/>
        </p:spPr>
        <p:txBody>
          <a:bodyPr wrap="square">
            <a:spAutoFit/>
          </a:bodyPr>
          <a:lstStyle/>
          <a:p>
            <a:pPr marL="342900" marR="0" indent="-342900" algn="l">
              <a:buFont typeface="Wingdings" panose="05000000000000000000" pitchFamily="2" charset="2"/>
              <a:buChar char="q"/>
            </a:pPr>
            <a:r>
              <a:rPr lang="en-IN" sz="2000" b="1" i="1" dirty="0">
                <a:solidFill>
                  <a:schemeClr val="tx1"/>
                </a:solidFill>
                <a:effectLst/>
                <a:latin typeface="Arial" panose="020B0604020202020204" pitchFamily="34" charset="0"/>
                <a:cs typeface="Arial" panose="020B0604020202020204" pitchFamily="34" charset="0"/>
              </a:rPr>
              <a:t>Insights :</a:t>
            </a:r>
          </a:p>
          <a:p>
            <a:pPr marR="0" algn="l"/>
            <a:endParaRPr lang="en-IN" sz="2000" b="1" i="1" dirty="0">
              <a:solidFill>
                <a:schemeClr val="tx1"/>
              </a:solidFill>
              <a:effectLst/>
              <a:latin typeface="Arial" panose="020B0604020202020204" pitchFamily="34" charset="0"/>
              <a:cs typeface="Arial" panose="020B0604020202020204" pitchFamily="34" charset="0"/>
            </a:endParaRPr>
          </a:p>
          <a:p>
            <a:pPr marL="285750" marR="0" indent="-285750" algn="l">
              <a:buFont typeface="Wingdings" panose="05000000000000000000" pitchFamily="2" charset="2"/>
              <a:buChar char="§"/>
            </a:pPr>
            <a:r>
              <a:rPr lang="en-IN" sz="1800" b="0" i="0" dirty="0">
                <a:solidFill>
                  <a:schemeClr val="tx1"/>
                </a:solidFill>
                <a:effectLst/>
                <a:latin typeface="Arial" panose="020B0604020202020204" pitchFamily="34" charset="0"/>
                <a:cs typeface="Arial" panose="020B0604020202020204" pitchFamily="34" charset="0"/>
              </a:rPr>
              <a:t>Model perfectly separates disaster vs non-disaster in this batch — all 6 predictions are correctly classified, with a clear gap between disaster tweets (75-80%) and non-disaster tweets (5-14%), showing strong confidence in both directions.</a:t>
            </a:r>
          </a:p>
          <a:p>
            <a:pPr marR="0" algn="l"/>
            <a:endParaRPr lang="en-IN" sz="1800" b="0" i="0" dirty="0">
              <a:solidFill>
                <a:schemeClr val="tx1"/>
              </a:solidFill>
              <a:effectLst/>
              <a:latin typeface="Arial" panose="020B0604020202020204" pitchFamily="34" charset="0"/>
              <a:cs typeface="Arial" panose="020B0604020202020204" pitchFamily="34" charset="0"/>
            </a:endParaRPr>
          </a:p>
          <a:p>
            <a:pPr marL="285750" marR="0" indent="-285750" algn="l">
              <a:buFont typeface="Wingdings" panose="05000000000000000000" pitchFamily="2" charset="2"/>
              <a:buChar char="§"/>
            </a:pPr>
            <a:r>
              <a:rPr lang="en-IN" sz="1800" b="0" i="0" dirty="0">
                <a:solidFill>
                  <a:schemeClr val="tx1"/>
                </a:solidFill>
                <a:effectLst/>
                <a:latin typeface="Arial" panose="020B0604020202020204" pitchFamily="34" charset="0"/>
                <a:cs typeface="Arial" panose="020B0604020202020204" pitchFamily="34" charset="0"/>
              </a:rPr>
              <a:t>model handles slang and idioms well — this is important because words like "fire" or "dying" could easily confuse a simpler keyword-based system, but this model correctly reads them in proper context.</a:t>
            </a:r>
            <a:endParaRPr lang="en-IN" sz="1050" b="0" i="0" dirty="0">
              <a:solidFill>
                <a:srgbClr val="FFFFFF"/>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97327208"/>
      </p:ext>
    </p:extLst>
  </p:cSld>
  <p:clrMapOvr>
    <a:masterClrMapping/>
  </p:clrMapOvr>
  <mc:AlternateContent xmlns:mc="http://schemas.openxmlformats.org/markup-compatibility/2006">
    <mc:Choice xmlns:p14="http://schemas.microsoft.com/office/powerpoint/2010/main" Requires="p14">
      <p:transition spd="slow" p14:dur="1250">
        <p14:flip dir="r"/>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A32F265-E881-1652-32BB-04A30587D3CE}"/>
              </a:ext>
            </a:extLst>
          </p:cNvPr>
          <p:cNvPicPr>
            <a:picLocks noChangeAspect="1"/>
          </p:cNvPicPr>
          <p:nvPr/>
        </p:nvPicPr>
        <p:blipFill>
          <a:blip r:embed="rId2"/>
          <a:stretch>
            <a:fillRect/>
          </a:stretch>
        </p:blipFill>
        <p:spPr>
          <a:xfrm>
            <a:off x="1720646" y="817204"/>
            <a:ext cx="9350477" cy="5721248"/>
          </a:xfrm>
          <a:prstGeom prst="rect">
            <a:avLst/>
          </a:prstGeom>
        </p:spPr>
      </p:pic>
      <p:sp>
        <p:nvSpPr>
          <p:cNvPr id="5" name="TextBox 4">
            <a:extLst>
              <a:ext uri="{FF2B5EF4-FFF2-40B4-BE49-F238E27FC236}">
                <a16:creationId xmlns:a16="http://schemas.microsoft.com/office/drawing/2014/main" id="{425B23ED-BB59-BD30-128A-2FD92715CA5D}"/>
              </a:ext>
            </a:extLst>
          </p:cNvPr>
          <p:cNvSpPr txBox="1"/>
          <p:nvPr/>
        </p:nvSpPr>
        <p:spPr>
          <a:xfrm>
            <a:off x="3623188" y="240890"/>
            <a:ext cx="6096000" cy="400110"/>
          </a:xfrm>
          <a:prstGeom prst="rect">
            <a:avLst/>
          </a:prstGeom>
          <a:noFill/>
        </p:spPr>
        <p:txBody>
          <a:bodyPr wrap="square">
            <a:spAutoFit/>
          </a:bodyPr>
          <a:lstStyle/>
          <a:p>
            <a:r>
              <a:rPr lang="en-IN" sz="2000" b="1" i="1" u="sng" dirty="0" err="1">
                <a:latin typeface="Arial" panose="020B0604020202020204" pitchFamily="34" charset="0"/>
                <a:cs typeface="Arial" panose="020B0604020202020204" pitchFamily="34" charset="0"/>
              </a:rPr>
              <a:t>Streamlit</a:t>
            </a:r>
            <a:r>
              <a:rPr lang="en-IN" sz="2000" b="1" i="1" u="sng" dirty="0">
                <a:latin typeface="Arial" panose="020B0604020202020204" pitchFamily="34" charset="0"/>
                <a:cs typeface="Arial" panose="020B0604020202020204" pitchFamily="34" charset="0"/>
              </a:rPr>
              <a:t> :</a:t>
            </a:r>
            <a:r>
              <a:rPr lang="en-IN" sz="2000" b="1" i="1" u="sng" dirty="0">
                <a:latin typeface="Arial" panose="020B0604020202020204" pitchFamily="34" charset="0"/>
                <a:cs typeface="Arial" panose="020B0604020202020204" pitchFamily="34" charset="0"/>
                <a:hlinkClick r:id="rId3"/>
              </a:rPr>
              <a:t> https://twitter-disaster.streamlit.app</a:t>
            </a:r>
            <a:endParaRPr lang="en-IN" sz="2000" b="1" i="1" u="sng"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69709984"/>
      </p:ext>
    </p:extLst>
  </p:cSld>
  <p:clrMapOvr>
    <a:masterClrMapping/>
  </p:clrMapOvr>
  <mc:AlternateContent xmlns:mc="http://schemas.openxmlformats.org/markup-compatibility/2006">
    <mc:Choice xmlns:p14="http://schemas.microsoft.com/office/powerpoint/2010/main" Requires="p14">
      <p:transition spd="slow" p14:dur="1250">
        <p14:flip dir="r"/>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9458DF-BA30-B8F7-19EE-C978B927FB75}"/>
              </a:ext>
            </a:extLst>
          </p:cNvPr>
          <p:cNvSpPr txBox="1"/>
          <p:nvPr/>
        </p:nvSpPr>
        <p:spPr>
          <a:xfrm>
            <a:off x="4385187" y="2821858"/>
            <a:ext cx="3820661" cy="1015663"/>
          </a:xfrm>
          <a:prstGeom prst="rect">
            <a:avLst/>
          </a:prstGeom>
          <a:noFill/>
          <a:scene3d>
            <a:camera prst="orthographicFront"/>
            <a:lightRig rig="threePt" dir="t"/>
          </a:scene3d>
          <a:sp3d>
            <a:bevelT prst="relaxedInset"/>
          </a:sp3d>
        </p:spPr>
        <p:txBody>
          <a:bodyPr wrap="none" rtlCol="0">
            <a:spAutoFit/>
          </a:bodyPr>
          <a:lstStyle/>
          <a:p>
            <a:pPr algn="ctr"/>
            <a:r>
              <a:rPr lang="en-IN" sz="6000" dirty="0">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182565059"/>
      </p:ext>
    </p:extLst>
  </p:cSld>
  <p:clrMapOvr>
    <a:masterClrMapping/>
  </p:clrMapOvr>
  <mc:AlternateContent xmlns:mc="http://schemas.openxmlformats.org/markup-compatibility/2006">
    <mc:Choice xmlns:p14="http://schemas.microsoft.com/office/powerpoint/2010/main" Requires="p14">
      <p:transition spd="slow" p14:dur="1250">
        <p14:flip dir="r"/>
      </p:transition>
    </mc:Choice>
    <mc:Fallback>
      <p:transition spd="slow">
        <p:fade/>
      </p:transition>
    </mc:Fallback>
  </mc:AlternateContent>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{8B28BE9A-593E-445A-8E3A-F631071E0983}TFc3084226-2d0c-440f-9f46-6b48c7a7f670e6ba4a85-fc4a2881d6b3</Template>
  <TotalTime>83</TotalTime>
  <Words>1079</Words>
  <Application>Microsoft Office PowerPoint</Application>
  <PresentationFormat>Widescreen</PresentationFormat>
  <Paragraphs>68</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Franklin Gothic Book</vt:lpstr>
      <vt:lpstr>Wingdings</vt:lpstr>
      <vt:lpstr>Crop</vt:lpstr>
      <vt:lpstr>Twitter Disaster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Vincy Mehta</dc:creator>
  <cp:lastModifiedBy>Vincy Mehta</cp:lastModifiedBy>
  <cp:revision>1</cp:revision>
  <dcterms:created xsi:type="dcterms:W3CDTF">2026-09-06T10:18:15Z</dcterms:created>
  <dcterms:modified xsi:type="dcterms:W3CDTF">2026-09-06T11:41:30Z</dcterms:modified>
</cp:coreProperties>
</file>